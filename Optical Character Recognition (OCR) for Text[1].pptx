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6" r:id="rId11"/>
    <p:sldId id="267" r:id="rId12"/>
    <p:sldId id="268" r:id="rId13"/>
    <p:sldId id="269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793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7071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8219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6558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96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291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983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606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587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6316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7458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3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C2DC3-D573-68FB-3A2C-9A95774F6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>
            <a:normAutofit/>
          </a:bodyPr>
          <a:lstStyle/>
          <a:p>
            <a:r>
              <a:rPr lang="en-US"/>
              <a:t>Optical Character Recognition (OCR) for Text Extraction and Verification </a:t>
            </a:r>
            <a:endParaRPr lang="en-IN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CBCE96F0-24EE-4BAB-8C00-893EC1714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491506" y="-615180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80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9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8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83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ED444C4E-6A11-4761-8A29-4B2A05781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516668"/>
            <a:ext cx="4187283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F47D306-4FD8-4CAD-82D2-FD4C900AD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969850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0BEF343-715B-4B19-9862-2734A1FCD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5DEFB171-510F-4499-9CD0-BC5ACC405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2A2759B-0AF5-4E2E-82AA-813216C89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94" name="Graphic 12">
              <a:extLst>
                <a:ext uri="{FF2B5EF4-FFF2-40B4-BE49-F238E27FC236}">
                  <a16:creationId xmlns:a16="http://schemas.microsoft.com/office/drawing/2014/main" id="{8366DE17-B6DB-4AF0-9B4C-75A8EFB36E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Graphic 15">
              <a:extLst>
                <a:ext uri="{FF2B5EF4-FFF2-40B4-BE49-F238E27FC236}">
                  <a16:creationId xmlns:a16="http://schemas.microsoft.com/office/drawing/2014/main" id="{AA09F465-4405-48C1-97F4-AA4773F954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Graphic 15">
              <a:extLst>
                <a:ext uri="{FF2B5EF4-FFF2-40B4-BE49-F238E27FC236}">
                  <a16:creationId xmlns:a16="http://schemas.microsoft.com/office/drawing/2014/main" id="{A2C1BD7E-5FA9-494F-8D3D-6844C3A33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185BE1E-CAFB-4EFD-944A-39897624F1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E6AAF277-D537-5D5B-CB29-F1780BA6B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/>
          <a:p>
            <a:r>
              <a:rPr lang="en-US"/>
              <a:t>By Neil Emmanuel Mathias and Shantanu 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427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A3FB8-8D08-DA36-43A6-F708C4C8E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Feature: Intelligent Text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A0571-68BC-F378-62B4-251241AB2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Function:</a:t>
            </a:r>
            <a:r>
              <a:rPr lang="en-IN" dirty="0"/>
              <a:t> Convert diverse scanned documents into structured, usable data.</a:t>
            </a:r>
          </a:p>
          <a:p>
            <a:br>
              <a:rPr lang="en-IN" dirty="0"/>
            </a:br>
            <a:r>
              <a:rPr lang="en-IN" dirty="0"/>
              <a:t>* </a:t>
            </a:r>
            <a:r>
              <a:rPr lang="en-IN" b="1" dirty="0"/>
              <a:t>Multi-Engine OCR:</a:t>
            </a:r>
            <a:r>
              <a:rPr lang="en-IN" dirty="0"/>
              <a:t> Uses </a:t>
            </a:r>
            <a:r>
              <a:rPr lang="en-IN" dirty="0" err="1"/>
              <a:t>TrOCR</a:t>
            </a:r>
            <a:r>
              <a:rPr lang="en-IN" dirty="0"/>
              <a:t> (Printed/Handwritten) and Tesseract (Multilingual) for best-in-class accuracy. </a:t>
            </a:r>
          </a:p>
          <a:p>
            <a:br>
              <a:rPr lang="en-IN" dirty="0"/>
            </a:br>
            <a:r>
              <a:rPr lang="en-IN" dirty="0"/>
              <a:t>* </a:t>
            </a:r>
            <a:r>
              <a:rPr lang="en-IN" b="1" dirty="0"/>
              <a:t>Advanced Preprocessing:</a:t>
            </a:r>
            <a:r>
              <a:rPr lang="en-IN" dirty="0"/>
              <a:t> Automatic </a:t>
            </a:r>
            <a:r>
              <a:rPr lang="en-IN" dirty="0" err="1"/>
              <a:t>deskewing</a:t>
            </a:r>
            <a:r>
              <a:rPr lang="en-IN" dirty="0"/>
              <a:t>, denoising, and border removal.</a:t>
            </a:r>
          </a:p>
          <a:p>
            <a:br>
              <a:rPr lang="en-IN" dirty="0"/>
            </a:br>
            <a:r>
              <a:rPr lang="en-IN" dirty="0"/>
              <a:t>* </a:t>
            </a:r>
            <a:r>
              <a:rPr lang="en-IN" b="1" dirty="0"/>
              <a:t>Multi-Language Support:</a:t>
            </a:r>
            <a:r>
              <a:rPr lang="en-IN" dirty="0"/>
              <a:t> English, Hindi (Devanagari), and Arabic (RTL).</a:t>
            </a:r>
          </a:p>
          <a:p>
            <a:br>
              <a:rPr lang="en-IN" dirty="0"/>
            </a:br>
            <a:r>
              <a:rPr lang="en-IN" dirty="0"/>
              <a:t>* </a:t>
            </a:r>
            <a:r>
              <a:rPr lang="en-IN" b="1" dirty="0"/>
              <a:t>Dynamic Field Identification:</a:t>
            </a:r>
            <a:r>
              <a:rPr lang="en-IN" dirty="0"/>
              <a:t> Pattern-based recognition; </a:t>
            </a:r>
            <a:r>
              <a:rPr lang="en-IN" b="1" dirty="0"/>
              <a:t>No fixed templates required</a:t>
            </a:r>
            <a:r>
              <a:rPr lang="en-IN" dirty="0"/>
              <a:t> (Partial Data Mapping).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9339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66DBF-8D3C-B659-9039-B2F698D0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CA49-F91D-A994-1B05-AAD7D890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Extraction in Action: Multi-Lingual &amp; Diverse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4AA2F-5CE5-8963-67C7-00D02149A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Document Versatility:</a:t>
            </a:r>
            <a:r>
              <a:rPr lang="en-US" dirty="0"/>
              <a:t> Works with high-value documents.</a:t>
            </a:r>
          </a:p>
          <a:p>
            <a:br>
              <a:rPr lang="en-US" dirty="0"/>
            </a:br>
            <a:r>
              <a:rPr lang="en-US" dirty="0"/>
              <a:t>* </a:t>
            </a:r>
            <a:r>
              <a:rPr lang="en-US" b="1" dirty="0"/>
              <a:t>ID Cards:</a:t>
            </a:r>
            <a:r>
              <a:rPr lang="en-US" dirty="0"/>
              <a:t> Aadhaar, PAN, Passport, Driver's License.</a:t>
            </a:r>
          </a:p>
          <a:p>
            <a:br>
              <a:rPr lang="en-US" dirty="0"/>
            </a:br>
            <a:r>
              <a:rPr lang="en-US" dirty="0"/>
              <a:t>* </a:t>
            </a:r>
            <a:r>
              <a:rPr lang="en-US" b="1" dirty="0"/>
              <a:t>Forms:</a:t>
            </a:r>
            <a:r>
              <a:rPr lang="en-US" dirty="0"/>
              <a:t> Application and Registration Forms.</a:t>
            </a:r>
          </a:p>
          <a:p>
            <a:br>
              <a:rPr lang="en-US" dirty="0"/>
            </a:br>
            <a:r>
              <a:rPr lang="en-US" dirty="0"/>
              <a:t>* </a:t>
            </a:r>
            <a:r>
              <a:rPr lang="en-US" b="1" dirty="0"/>
              <a:t>Certificates:</a:t>
            </a:r>
            <a:r>
              <a:rPr lang="en-US" dirty="0"/>
              <a:t> Degree, Diploma, and Birth Certificates.</a:t>
            </a:r>
          </a:p>
          <a:p>
            <a:br>
              <a:rPr lang="en-US" dirty="0"/>
            </a:br>
            <a:r>
              <a:rPr lang="en-US" dirty="0"/>
              <a:t>* </a:t>
            </a:r>
            <a:r>
              <a:rPr lang="en-US" b="1" dirty="0"/>
              <a:t>Supported Scripts:</a:t>
            </a:r>
            <a:r>
              <a:rPr lang="en-US" dirty="0"/>
              <a:t> Latin (English) and Non-Latin (Hindi, Arabic).</a:t>
            </a:r>
          </a:p>
          <a:p>
            <a:br>
              <a:rPr lang="en-US" dirty="0"/>
            </a:br>
            <a:r>
              <a:rPr lang="en-US" dirty="0"/>
              <a:t>* </a:t>
            </a:r>
            <a:r>
              <a:rPr lang="en-US" b="1" dirty="0"/>
              <a:t>Key Advantage:</a:t>
            </a:r>
            <a:r>
              <a:rPr lang="en-US" dirty="0"/>
              <a:t> System intelligently selects the best OCR engine (</a:t>
            </a:r>
            <a:r>
              <a:rPr lang="en-US" dirty="0" err="1"/>
              <a:t>TrOCR</a:t>
            </a:r>
            <a:r>
              <a:rPr lang="en-US" dirty="0"/>
              <a:t>/Tesseract) based on language and text type (printed vs. handwritten).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292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3D111-62DE-A9E8-4FBD-C847BCBC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E22C-6C72-1CB3-D410-88BCD695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Feature: Data Verification &amp; 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44AFD-9FA9-9637-0F88-4ECDFC321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Function:</a:t>
            </a:r>
            <a:r>
              <a:rPr lang="en-US" dirty="0"/>
              <a:t> Cross-check extracted OCR data against submitted values for quality assurance.</a:t>
            </a:r>
          </a:p>
          <a:p>
            <a:endParaRPr lang="en-US" dirty="0"/>
          </a:p>
          <a:p>
            <a:r>
              <a:rPr lang="en-US" b="1" dirty="0"/>
              <a:t>Verification Output:</a:t>
            </a:r>
            <a:endParaRPr lang="en-US" dirty="0"/>
          </a:p>
          <a:p>
            <a:br>
              <a:rPr lang="en-US" dirty="0"/>
            </a:br>
            <a:r>
              <a:rPr lang="en-US" dirty="0"/>
              <a:t>* </a:t>
            </a:r>
            <a:r>
              <a:rPr lang="en-US" b="1" dirty="0"/>
              <a:t>Confidence Scoring:</a:t>
            </a:r>
            <a:r>
              <a:rPr lang="en-US" dirty="0"/>
              <a:t> Field-by-field similarity scores and an overall confidence metric.</a:t>
            </a:r>
          </a:p>
          <a:p>
            <a:r>
              <a:rPr lang="en-US" dirty="0"/>
              <a:t>* </a:t>
            </a:r>
            <a:r>
              <a:rPr lang="en-US" b="1" dirty="0"/>
              <a:t>Status Indicators:</a:t>
            </a:r>
            <a:r>
              <a:rPr lang="en-US" dirty="0"/>
              <a:t> Clear status: </a:t>
            </a:r>
            <a:r>
              <a:rPr lang="en-US" b="1" dirty="0"/>
              <a:t>Match</a:t>
            </a:r>
            <a:r>
              <a:rPr lang="en-US" dirty="0"/>
              <a:t>, </a:t>
            </a:r>
            <a:r>
              <a:rPr lang="en-US" b="1" dirty="0"/>
              <a:t>Partial Match</a:t>
            </a:r>
            <a:r>
              <a:rPr lang="en-US" dirty="0"/>
              <a:t>, </a:t>
            </a:r>
            <a:r>
              <a:rPr lang="en-US" b="1" dirty="0"/>
              <a:t>Mismatch</a:t>
            </a:r>
            <a:r>
              <a:rPr lang="en-US" dirty="0"/>
              <a:t>, </a:t>
            </a:r>
            <a:r>
              <a:rPr lang="en-US" b="1" dirty="0"/>
              <a:t>Not Found</a:t>
            </a:r>
            <a:r>
              <a:rPr lang="en-US" dirty="0"/>
              <a:t>.</a:t>
            </a:r>
          </a:p>
          <a:p>
            <a:r>
              <a:rPr lang="en-US" dirty="0"/>
              <a:t>* </a:t>
            </a:r>
            <a:r>
              <a:rPr lang="en-US" b="1" dirty="0"/>
              <a:t>Engine:</a:t>
            </a:r>
            <a:r>
              <a:rPr lang="en-US" dirty="0"/>
              <a:t> Uses fuzzy matching (e.g., </a:t>
            </a:r>
            <a:r>
              <a:rPr lang="en-US" dirty="0" err="1"/>
              <a:t>difflib</a:t>
            </a:r>
            <a:r>
              <a:rPr lang="en-US" dirty="0"/>
              <a:t>, </a:t>
            </a:r>
            <a:r>
              <a:rPr lang="en-US" dirty="0" err="1"/>
              <a:t>fuzzywuzzy</a:t>
            </a:r>
            <a:r>
              <a:rPr lang="en-US" dirty="0"/>
              <a:t>) for robust comparison.</a:t>
            </a:r>
          </a:p>
          <a:p>
            <a:br>
              <a:rPr lang="en-US" dirty="0"/>
            </a:br>
            <a:r>
              <a:rPr lang="en-US" dirty="0"/>
              <a:t>* </a:t>
            </a:r>
            <a:r>
              <a:rPr lang="en-US" b="1" dirty="0"/>
              <a:t>Value Proposition:</a:t>
            </a:r>
            <a:r>
              <a:rPr lang="en-US" dirty="0"/>
              <a:t> Reduces verification time and human error by providing objective accuracy metrics.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6841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AF1DC-4DE7-5010-C0EA-449D7D817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739D1-D97E-4B0D-94AF-88BF525A1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Web Demo Interface: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088D5-5137-3089-90EB-6D3A9312E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Goal:</a:t>
            </a:r>
            <a:r>
              <a:rPr lang="en-US" dirty="0"/>
              <a:t> Demonstrate the seamless end-to-end workflow to a user.</a:t>
            </a:r>
          </a:p>
          <a:p>
            <a:r>
              <a:rPr lang="en-US" dirty="0"/>
              <a:t>* </a:t>
            </a:r>
            <a:r>
              <a:rPr lang="en-US" b="1" dirty="0"/>
              <a:t>Upload:</a:t>
            </a:r>
            <a:r>
              <a:rPr lang="en-US" dirty="0"/>
              <a:t> Simple drag-and-drop for PDF/JPEG/PNG.</a:t>
            </a:r>
          </a:p>
          <a:p>
            <a:r>
              <a:rPr lang="en-US" dirty="0"/>
              <a:t>* </a:t>
            </a:r>
            <a:r>
              <a:rPr lang="en-US" b="1" dirty="0"/>
              <a:t>Auto-Fill:</a:t>
            </a:r>
            <a:r>
              <a:rPr lang="en-US" dirty="0"/>
              <a:t> Extracted data automatically populates digital form fields.</a:t>
            </a:r>
          </a:p>
          <a:p>
            <a:br>
              <a:rPr lang="en-US" dirty="0"/>
            </a:br>
            <a:r>
              <a:rPr lang="en-US" dirty="0"/>
              <a:t>* </a:t>
            </a:r>
            <a:r>
              <a:rPr lang="en-US" b="1" dirty="0"/>
              <a:t>Manual Correction:</a:t>
            </a:r>
            <a:r>
              <a:rPr lang="en-US" dirty="0"/>
              <a:t> Allows users to correct OCR errors before final verification, creating a human-in-the-loop workflow.</a:t>
            </a:r>
          </a:p>
          <a:p>
            <a:br>
              <a:rPr lang="en-US" dirty="0"/>
            </a:br>
            <a:r>
              <a:rPr lang="en-US" dirty="0"/>
              <a:t>* </a:t>
            </a:r>
            <a:r>
              <a:rPr lang="en-US" b="1" dirty="0"/>
              <a:t>Verification Dashboard:</a:t>
            </a:r>
            <a:r>
              <a:rPr lang="en-US" dirty="0"/>
              <a:t> Visually displays confidence scores and match status with color-coding.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0776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88257-DFEE-0684-C439-E260F51B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45E8-11DE-CCCD-9EE0-F0712A7C6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100485"/>
            <a:ext cx="10077557" cy="1105318"/>
          </a:xfrm>
        </p:spPr>
        <p:txBody>
          <a:bodyPr/>
          <a:lstStyle/>
          <a:p>
            <a:r>
              <a:rPr lang="en-US" dirty="0"/>
              <a:t>Tech Stack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25F691-B2D9-0F1B-0E15-5911DF93C0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9579271"/>
              </p:ext>
            </p:extLst>
          </p:nvPr>
        </p:nvGraphicFramePr>
        <p:xfrm>
          <a:off x="743578" y="1205803"/>
          <a:ext cx="9736853" cy="4885139"/>
        </p:xfrm>
        <a:graphic>
          <a:graphicData uri="http://schemas.openxmlformats.org/drawingml/2006/table">
            <a:tbl>
              <a:tblPr/>
              <a:tblGrid>
                <a:gridCol w="3411937">
                  <a:extLst>
                    <a:ext uri="{9D8B030D-6E8A-4147-A177-3AD203B41FA5}">
                      <a16:colId xmlns:a16="http://schemas.microsoft.com/office/drawing/2014/main" val="2246895715"/>
                    </a:ext>
                  </a:extLst>
                </a:gridCol>
                <a:gridCol w="3162458">
                  <a:extLst>
                    <a:ext uri="{9D8B030D-6E8A-4147-A177-3AD203B41FA5}">
                      <a16:colId xmlns:a16="http://schemas.microsoft.com/office/drawing/2014/main" val="3258244067"/>
                    </a:ext>
                  </a:extLst>
                </a:gridCol>
                <a:gridCol w="3162458">
                  <a:extLst>
                    <a:ext uri="{9D8B030D-6E8A-4147-A177-3AD203B41FA5}">
                      <a16:colId xmlns:a16="http://schemas.microsoft.com/office/drawing/2014/main" val="217692893"/>
                    </a:ext>
                  </a:extLst>
                </a:gridCol>
              </a:tblGrid>
              <a:tr h="18991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Category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Component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 &amp; Purpose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587507"/>
                  </a:ext>
                </a:extLst>
              </a:tr>
              <a:tr h="5843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Backend API &amp; Server</a:t>
                      </a: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FastAPI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High-performance, asynchronous Python web framework for building the REST API (Extraction, Verification).</a:t>
                      </a: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456472"/>
                  </a:ext>
                </a:extLst>
              </a:tr>
              <a:tr h="58436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Uvicorn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ASGI server to run FastAPI, ensuring fast, concurrent handling of document upload requests.</a:t>
                      </a: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582471"/>
                  </a:ext>
                </a:extLst>
              </a:tr>
              <a:tr h="715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Core OCR Engines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PyTorch &amp; TrOCR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State-of-the-art Deep Learning framework and model (TrOCR) used for high-accuracy recognition of both </a:t>
                      </a: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printed and handwritten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text.</a:t>
                      </a: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667823"/>
                  </a:ext>
                </a:extLst>
              </a:tr>
              <a:tr h="58436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Tesseract OCR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Classic, robust, open-source engine used for </a:t>
                      </a: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multilingual support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(Hindi, Arabic) and as a highly reliable fallback engine.</a:t>
                      </a: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78517"/>
                  </a:ext>
                </a:extLst>
              </a:tr>
              <a:tr h="5843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Processing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OpenCV &amp; Pillow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Libraries for image </a:t>
                      </a: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preprocessing</a:t>
                      </a:r>
                      <a:r>
                        <a:rPr lang="en-IN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(deskewing, denoising) and handling various document formats (PDF, JPEG, PNG).</a:t>
                      </a: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093632"/>
                  </a:ext>
                </a:extLst>
              </a:tr>
              <a:tr h="58436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fuzzywuzzy</a:t>
                      </a: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 </a:t>
                      </a:r>
                      <a:r>
                        <a:rPr lang="en-IN" sz="1100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difflib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Python libraries used in the Verification API to calculate text similarity and generate the </a:t>
                      </a: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confidence scores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586624"/>
                  </a:ext>
                </a:extLst>
              </a:tr>
              <a:tr h="5843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Frontend Demo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HTML / CSS / JS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Standard web technologies for the responsive, drag-and-drop user interface, form auto-filling, and visual verification dashboard.</a:t>
                      </a: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358847"/>
                  </a:ext>
                </a:extLst>
              </a:tr>
              <a:tr h="4528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Environment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Python 3.10+</a:t>
                      </a:r>
                      <a:endParaRPr lang="en-IN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core programming language leveraging its rich ecosystem of AI/ML libraries.</a:t>
                      </a:r>
                    </a:p>
                  </a:txBody>
                  <a:tcPr marL="31965" marR="31965" marT="21310" marB="2131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649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7846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69965-B5C5-B11C-B074-AE45A2AD2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30BF-5AF7-1BAB-0262-7BD92115E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9"/>
            <a:ext cx="10077557" cy="308202"/>
          </a:xfrm>
        </p:spPr>
        <p:txBody>
          <a:bodyPr>
            <a:normAutofit fontScale="90000"/>
          </a:bodyPr>
          <a:lstStyle/>
          <a:p>
            <a:r>
              <a:rPr lang="en-IN" dirty="0"/>
              <a:t>Architecture Diagram: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3B7F12D1-C71E-CC60-BADA-965B02B17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82" y="1276141"/>
            <a:ext cx="11063236" cy="5276780"/>
          </a:xfrm>
        </p:spPr>
      </p:pic>
    </p:spTree>
    <p:extLst>
      <p:ext uri="{BB962C8B-B14F-4D97-AF65-F5344CB8AC3E}">
        <p14:creationId xmlns:p14="http://schemas.microsoft.com/office/powerpoint/2010/main" val="478002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52A9D-A477-5D10-49CC-C373F86D6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C88B5-AB22-C27E-B65C-CA28FFA48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9"/>
            <a:ext cx="10077557" cy="308202"/>
          </a:xfrm>
        </p:spPr>
        <p:txBody>
          <a:bodyPr>
            <a:normAutofit fontScale="90000"/>
          </a:bodyPr>
          <a:lstStyle/>
          <a:p>
            <a:r>
              <a:rPr lang="en-IN" dirty="0"/>
              <a:t>Workflow Diagram: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73A2F691-88FF-EF83-B8AA-C42EB1A5C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06" y="2962537"/>
            <a:ext cx="11140673" cy="2964264"/>
          </a:xfrm>
        </p:spPr>
      </p:pic>
    </p:spTree>
    <p:extLst>
      <p:ext uri="{BB962C8B-B14F-4D97-AF65-F5344CB8AC3E}">
        <p14:creationId xmlns:p14="http://schemas.microsoft.com/office/powerpoint/2010/main" val="3843602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BB391-2C1D-C12C-E79F-2888EF1C6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C248A-B498-A9BA-DC99-697E0F87B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167149"/>
            <a:ext cx="10077557" cy="1425678"/>
          </a:xfrm>
        </p:spPr>
        <p:txBody>
          <a:bodyPr/>
          <a:lstStyle/>
          <a:p>
            <a:r>
              <a:rPr lang="en-IN" dirty="0"/>
              <a:t>Potential Business Impact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B939A57-2451-3EB3-3C48-4FBB45FCF3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417065"/>
              </p:ext>
            </p:extLst>
          </p:nvPr>
        </p:nvGraphicFramePr>
        <p:xfrm>
          <a:off x="653142" y="1986116"/>
          <a:ext cx="10269416" cy="4084487"/>
        </p:xfrm>
        <a:graphic>
          <a:graphicData uri="http://schemas.openxmlformats.org/drawingml/2006/table">
            <a:tbl>
              <a:tblPr/>
              <a:tblGrid>
                <a:gridCol w="5134708">
                  <a:extLst>
                    <a:ext uri="{9D8B030D-6E8A-4147-A177-3AD203B41FA5}">
                      <a16:colId xmlns:a16="http://schemas.microsoft.com/office/drawing/2014/main" val="3726598301"/>
                    </a:ext>
                  </a:extLst>
                </a:gridCol>
                <a:gridCol w="5134708">
                  <a:extLst>
                    <a:ext uri="{9D8B030D-6E8A-4147-A177-3AD203B41FA5}">
                      <a16:colId xmlns:a16="http://schemas.microsoft.com/office/drawing/2014/main" val="4286145357"/>
                    </a:ext>
                  </a:extLst>
                </a:gridCol>
              </a:tblGrid>
              <a:tr h="3339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Metric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945" marR="66945" marT="44630" marB="446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Impact Description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945" marR="66945" marT="44630" marB="446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011088"/>
                  </a:ext>
                </a:extLst>
              </a:tr>
              <a:tr h="5651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Operational Efficiency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945" marR="66945" marT="44630" marB="446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Automated Data Capture: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Eliminates tedious, error-prone manual data entry for forms and ID cards.</a:t>
                      </a:r>
                    </a:p>
                  </a:txBody>
                  <a:tcPr marL="66945" marR="66945" marT="44630" marB="446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309259"/>
                  </a:ext>
                </a:extLst>
              </a:tr>
              <a:tr h="5651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Cost Savings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945" marR="66945" marT="44630" marB="446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Resource Optimization: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Significantly lowers the FTE hours required for data entry and validation teams.</a:t>
                      </a:r>
                    </a:p>
                  </a:txBody>
                  <a:tcPr marL="66945" marR="66945" marT="44630" marB="446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588613"/>
                  </a:ext>
                </a:extLst>
              </a:tr>
              <a:tr h="7963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Quality &amp; Compliance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945" marR="66945" marT="44630" marB="446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Confidence Data: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Field-level confidence scores ensure only verified, high-quality data enters core systems, improving compliance.</a:t>
                      </a:r>
                    </a:p>
                  </a:txBody>
                  <a:tcPr marL="66945" marR="66945" marT="44630" marB="446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793499"/>
                  </a:ext>
                </a:extLst>
              </a:tr>
              <a:tr h="10275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Scalability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945" marR="66945" marT="44630" marB="446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Handle High Volume: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The robust FastAPI backend and concurrent processing model allows the system to scale easily to handle thousands of documents per day.</a:t>
                      </a:r>
                    </a:p>
                  </a:txBody>
                  <a:tcPr marL="66945" marR="66945" marT="44630" marB="446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838245"/>
                  </a:ext>
                </a:extLst>
              </a:tr>
              <a:tr h="7963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Customer Experience</a:t>
                      </a:r>
                      <a:endParaRPr lang="en-IN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6945" marR="66945" marT="44630" marB="446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Faster Onboarding: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Accelerates customer registration and application processing times from minutes to seconds.</a:t>
                      </a:r>
                    </a:p>
                  </a:txBody>
                  <a:tcPr marL="66945" marR="66945" marT="44630" marB="446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974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2035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12651-6CA0-F584-BC94-07BB2EF36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60F13-FC8A-3922-33BA-56DC38CC0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167149"/>
            <a:ext cx="10077557" cy="1425678"/>
          </a:xfrm>
        </p:spPr>
        <p:txBody>
          <a:bodyPr/>
          <a:lstStyle/>
          <a:p>
            <a:r>
              <a:rPr lang="en-IN" dirty="0"/>
              <a:t>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D9FBE7-F123-41AF-0BB7-9DBE1AA30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632" y="1592827"/>
            <a:ext cx="9684982" cy="495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501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9A924-C352-38DA-F3C6-376C2655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8A5B-413A-20AB-4426-F68173A0E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167149"/>
            <a:ext cx="10077557" cy="1425678"/>
          </a:xfrm>
        </p:spPr>
        <p:txBody>
          <a:bodyPr/>
          <a:lstStyle/>
          <a:p>
            <a:r>
              <a:rPr lang="en-IN" dirty="0"/>
              <a:t>Result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124E3F-5FAA-D278-724B-B93F11252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655" y="2651879"/>
            <a:ext cx="9045724" cy="29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350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D14C7-8CD7-FA93-F999-F05816050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BE970-1304-3A24-839F-6A6D4DEB3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167149"/>
            <a:ext cx="10077557" cy="1425678"/>
          </a:xfrm>
        </p:spPr>
        <p:txBody>
          <a:bodyPr/>
          <a:lstStyle/>
          <a:p>
            <a:r>
              <a:rPr lang="en-IN" dirty="0"/>
              <a:t>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A2C04-E778-DEF8-4995-7FF82AEDF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349" y="635508"/>
            <a:ext cx="5369051" cy="55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820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F6665-F305-AC78-EE0F-7783CF136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AFDF4-14A5-8815-F38A-EE78CD256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167149"/>
            <a:ext cx="10077557" cy="1425678"/>
          </a:xfrm>
        </p:spPr>
        <p:txBody>
          <a:bodyPr/>
          <a:lstStyle/>
          <a:p>
            <a:r>
              <a:rPr lang="en-IN" dirty="0"/>
              <a:t>Result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BE3CF3-73F6-A5DB-DB05-E7005BCA5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932" y="2423765"/>
            <a:ext cx="9083827" cy="30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915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C1837-E22E-DA8F-7394-515930C25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0E1C0-20CB-7326-0C2D-2BB85A7A9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BE595-BA16-0512-EFCA-E1A8670D9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Intelligent Accuracy:</a:t>
            </a:r>
            <a:r>
              <a:rPr lang="en-US" dirty="0"/>
              <a:t> We have developed a state-of-the-art system utilizing </a:t>
            </a:r>
            <a:r>
              <a:rPr lang="en-US" b="1" dirty="0" err="1"/>
              <a:t>TrOCR</a:t>
            </a:r>
            <a:r>
              <a:rPr lang="en-US" b="1" dirty="0"/>
              <a:t> and Tesseract</a:t>
            </a:r>
            <a:r>
              <a:rPr lang="en-US" dirty="0"/>
              <a:t> with a smart selector, achieving high accuracy across diverse documents and languages (English, Hindi, Arabic).</a:t>
            </a:r>
          </a:p>
          <a:p>
            <a:r>
              <a:rPr lang="en-US" b="1" dirty="0"/>
              <a:t>Dynamic and Flexible:</a:t>
            </a:r>
            <a:r>
              <a:rPr lang="en-US" dirty="0"/>
              <a:t> The system employs </a:t>
            </a:r>
            <a:r>
              <a:rPr lang="en-US" b="1" dirty="0"/>
              <a:t>Dynamic Field Mapping</a:t>
            </a:r>
            <a:r>
              <a:rPr lang="en-US" dirty="0"/>
              <a:t>, meaning it successfully extracts relevant data fields without relying on fragile, fixed templates, handling variations in document layout.</a:t>
            </a:r>
          </a:p>
          <a:p>
            <a:r>
              <a:rPr lang="en-US" b="1" dirty="0"/>
              <a:t>Built-in Quality Control:</a:t>
            </a:r>
            <a:r>
              <a:rPr lang="en-US" dirty="0"/>
              <a:t> The </a:t>
            </a:r>
            <a:r>
              <a:rPr lang="en-US" b="1" dirty="0"/>
              <a:t>Data Verification API</a:t>
            </a:r>
            <a:r>
              <a:rPr lang="en-US" dirty="0"/>
              <a:t> provides essential quality assurance by cross-checking extracted data and delivering objective, field-level confidence scores.</a:t>
            </a:r>
          </a:p>
        </p:txBody>
      </p:sp>
    </p:spTree>
    <p:extLst>
      <p:ext uri="{BB962C8B-B14F-4D97-AF65-F5344CB8AC3E}">
        <p14:creationId xmlns:p14="http://schemas.microsoft.com/office/powerpoint/2010/main" val="45610331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Custom 101">
      <a:dk1>
        <a:sysClr val="windowText" lastClr="000000"/>
      </a:dk1>
      <a:lt1>
        <a:sysClr val="window" lastClr="FFFFFF"/>
      </a:lt1>
      <a:dk2>
        <a:srgbClr val="463443"/>
      </a:dk2>
      <a:lt2>
        <a:srgbClr val="F3F0E9"/>
      </a:lt2>
      <a:accent1>
        <a:srgbClr val="D45E5E"/>
      </a:accent1>
      <a:accent2>
        <a:srgbClr val="D49D8C"/>
      </a:accent2>
      <a:accent3>
        <a:srgbClr val="BF873A"/>
      </a:accent3>
      <a:accent4>
        <a:srgbClr val="C05050"/>
      </a:accent4>
      <a:accent5>
        <a:srgbClr val="A89F68"/>
      </a:accent5>
      <a:accent6>
        <a:srgbClr val="8F6B8A"/>
      </a:accent6>
      <a:hlink>
        <a:srgbClr val="D75681"/>
      </a:hlink>
      <a:folHlink>
        <a:srgbClr val="6C9D92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762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Avenir Next LT Pro</vt:lpstr>
      <vt:lpstr>Avenir Next LT Pro Light</vt:lpstr>
      <vt:lpstr>Georgia Pro Semibold</vt:lpstr>
      <vt:lpstr>Google Sans Text</vt:lpstr>
      <vt:lpstr>RocaVTI</vt:lpstr>
      <vt:lpstr>Optical Character Recognition (OCR) for Text Extraction and Verification </vt:lpstr>
      <vt:lpstr>Core Feature: Intelligent Text Extraction</vt:lpstr>
      <vt:lpstr>Extraction in Action: Multi-Lingual &amp; Diverse Documents</vt:lpstr>
      <vt:lpstr>Core Feature: Data Verification &amp; Scoring</vt:lpstr>
      <vt:lpstr>The Web Demo Interface:</vt:lpstr>
      <vt:lpstr>Tech Stack</vt:lpstr>
      <vt:lpstr>Architecture Diagram:</vt:lpstr>
      <vt:lpstr>Workflow Diagram:</vt:lpstr>
      <vt:lpstr>Potential Business Impact</vt:lpstr>
      <vt:lpstr>Result</vt:lpstr>
      <vt:lpstr>Result</vt:lpstr>
      <vt:lpstr>Result</vt:lpstr>
      <vt:lpstr>Result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MATHIAS (RA2311028010166)</dc:creator>
  <cp:lastModifiedBy>Shantanu V</cp:lastModifiedBy>
  <cp:revision>3</cp:revision>
  <dcterms:created xsi:type="dcterms:W3CDTF">2025-12-13T17:42:49Z</dcterms:created>
  <dcterms:modified xsi:type="dcterms:W3CDTF">2025-12-13T18:27:00Z</dcterms:modified>
</cp:coreProperties>
</file>